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CONCERT SUCCESS PREDICTOR  ·  INTERNAL BRIEFING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Prediction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Explained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4D0"/>
                </a:solidFill>
              </a:rPr>
              <a:t>How the platform turns streaming data, city economics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4D0"/>
                </a:solidFill>
              </a:rPr>
              <a:t>and live event intelligence into a single success score.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54864"/>
            <a:ext cx="2651760" cy="5088636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914400"/>
            <a:ext cx="2194560" cy="1234440"/>
          </a:xfrm>
          <a:prstGeom prst="rect">
            <a:avLst>
              <a:gd name="adj" fmla="val 8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960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6720840" y="16276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Mathematical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2331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1. Min-Max Normalisation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6563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2. Spearman Correlation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98094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3. PCA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3055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4. Elasticity Ratio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36301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5. Gravity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39547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C4FF"/>
                </a:solidFill>
              </a:rPr>
              <a:t>6. TOPSIS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42793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7. Multipliers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46040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8. Bayesian Network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· 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8-Step Prediction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Each model feeds the next. The final output is a single Success Probability percentage.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2103120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170432"/>
            <a:ext cx="347472" cy="292608"/>
          </a:xfrm>
          <a:prstGeom prst="rect">
            <a:avLst>
              <a:gd name="adj" fmla="val 12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04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49961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212140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Puts all inputs 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 0–1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02412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024128"/>
            <a:ext cx="2103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9776" y="1170432"/>
            <a:ext cx="347472" cy="292608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9776" y="11704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9776" y="149961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79776" y="212140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Checks if Spotify &amp;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YouTube agree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02412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024128"/>
            <a:ext cx="21031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1170432"/>
            <a:ext cx="347472" cy="292608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1704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65776" y="149961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65776" y="212140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Merges both platforms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into Artist Power Index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02412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1024128"/>
            <a:ext cx="21031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1776" y="1170432"/>
            <a:ext cx="347472" cy="292608"/>
          </a:xfrm>
          <a:prstGeom prst="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51776" y="11704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51776" y="149961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51776" y="212140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Weights platform by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artist genre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94436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944368"/>
            <a:ext cx="21031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" y="3090672"/>
            <a:ext cx="347472" cy="292608"/>
          </a:xfrm>
          <a:prstGeom prst="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090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" y="341985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 Gravity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" y="404164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Attraction vs friction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for each city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94436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51760" y="2944368"/>
            <a:ext cx="210312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79776" y="3090672"/>
            <a:ext cx="347472" cy="292608"/>
          </a:xfrm>
          <a:prstGeom prst="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79776" y="3090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79776" y="341985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779776" y="404164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Scores vs ideal &amp;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worst concert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294436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2944368"/>
            <a:ext cx="210312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5776" y="3090672"/>
            <a:ext cx="347472" cy="292608"/>
          </a:xfrm>
          <a:prstGeom prst="rect">
            <a:avLst>
              <a:gd name="adj" fmla="val 125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3090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65776" y="341985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Multipliers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65776" y="404164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Weather, rivalry &amp;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language adjustments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23760" y="294436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23760" y="2944368"/>
            <a:ext cx="210312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51776" y="3090672"/>
            <a:ext cx="347472" cy="292608"/>
          </a:xfrm>
          <a:prstGeom prst="rect">
            <a:avLst>
              <a:gd name="adj" fmla="val 125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51776" y="3090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51776" y="3419856"/>
            <a:ext cx="18470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51776" y="4041648"/>
            <a:ext cx="1847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Self-improving as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real data flows in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97680" y="2679192"/>
            <a:ext cx="548640" cy="237744"/>
          </a:xfrm>
          <a:prstGeom prst="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2679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feeds 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&amp; 02  ·  Normalisation  +  Spearman Correlation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77640" cy="4041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404164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5FA8"/>
                </a:solidFill>
              </a:rPr>
              <a:t>01  MIN-MAX NORMALISATION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Converts all data onto one ruler (0 →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66160" cy="475488"/>
          </a:xfrm>
          <a:prstGeom prst="rect">
            <a:avLst/>
          </a:prstGeom>
          <a:solidFill>
            <a:srgbClr val="E2F0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27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x_new  =  (x − x_min) / (x_max − x_min)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Spotify listeners run into millions. City income is in rupees. Ticket price is in hundreds. Without normalisation, the giant rupee number would crush every other signal — the model would produce nonsense.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Who else uses this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FA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Google DeepMind — every neural network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7307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FA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NITI Aayog — state development index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FA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CIBIL — credit score calculation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793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FA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Spotify Discover Weekly — audio features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822960"/>
            <a:ext cx="3977640" cy="4041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822960"/>
            <a:ext cx="91440" cy="40416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</a:rPr>
              <a:t>02  SPEARMAN RANK CORRELATION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Do Spotify &amp; YouTube agree on popularity?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1508760"/>
            <a:ext cx="3566160" cy="475488"/>
          </a:xfrm>
          <a:prstGeom prst="rect">
            <a:avLst/>
          </a:prstGeom>
          <a:solidFill>
            <a:srgbClr val="E0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527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1 − (6 × Σdᵢ²) / (n × (n²−1))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121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Key insight for India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42316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423160"/>
            <a:ext cx="640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468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Bollywood / Pop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2660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platforms agree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514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ρ ≈ 0.90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2953512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2953512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999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Indie / Hip-Hop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31912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mild divergence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044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ρ ≈ 0.65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483864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3483864"/>
            <a:ext cx="6400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5295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Regional Folk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20640" y="37216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YouTube only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35753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ρ ≈ 0.28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83480" y="4005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Who else uses this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83480" y="42611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WHO — co-related disease burdens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83480" y="4480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NSE/BSE — stock movement correlation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83480" y="47000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Google — search rater agreement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83480" y="49194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Indian Railways — delay cascade analysis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&amp; 04  ·  PCA  +  Elasticity Ratio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77640" cy="4041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4041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</a:rPr>
              <a:t>03  PRINCIPAL COMPONENT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Two signals → one Artist Power Index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661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27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= w₁ × Spotify_score + w₂ × YouTube_score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The problem PCA solves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Spotify and YouTube both measure popularity — feeding both raw numbers causes multicollinearity: scores get inflated. PCA extracts the single dimension of maximum variance and discards the redundant overlap.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Auto-assigned weights by genre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Bollywood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10512" y="3474720"/>
            <a:ext cx="850392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3474720"/>
            <a:ext cx="521208" cy="14630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4381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Sp 62%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34381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YT 38%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Regional Folk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10512" y="3931920"/>
            <a:ext cx="246888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3931920"/>
            <a:ext cx="1124712" cy="14630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8953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Sp 18%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0" y="38953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YT 82%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3525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Indie / Hip-Hop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10512" y="4389120"/>
            <a:ext cx="973836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4348" y="4389120"/>
            <a:ext cx="397764" cy="14630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3525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Sp 71%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0" y="43525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YT 29%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Used by: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NASA/ISRO (sensor compression)  ·  SBI (loan risk)  ·  Netflix (taste vectors)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822960"/>
            <a:ext cx="3977640" cy="4041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822960"/>
            <a:ext cx="91440" cy="40416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</a:rPr>
              <a:t>04  GENRE ELASTICITY RATIO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How much does each platform move together?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83480" y="1508760"/>
            <a:ext cx="356616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5270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 = Δ% YouTube views / Δ% Spotify listeners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2084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to read Eg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2395728"/>
            <a:ext cx="356616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441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 &gt; 1.5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263347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Model weights YouTube heavily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2907792"/>
            <a:ext cx="3566160" cy="438912"/>
          </a:xfrm>
          <a:prstGeom prst="rect">
            <a:avLst/>
          </a:prstGeom>
          <a:solidFill>
            <a:srgbClr val="E0F7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9535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 ≈ 1.0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314553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Platforms trusted equally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83480" y="3419856"/>
            <a:ext cx="356616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4655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 &lt; 0.7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74920" y="36576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Model weights Spotify heavily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83480" y="4005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Real-world genre table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3480" y="42793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Bollywood / Pop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98080" y="42793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Eg = 1.05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83480" y="44897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Regional Folk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98080" y="44897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24B4A"/>
                </a:solidFill>
              </a:rPr>
              <a:t>Eg = 2.80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83480" y="47000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Indie / Hip-Hop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498080" y="47000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Eg = 0.52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983480" y="4910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Classical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498080" y="4910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Eg = 0.35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·  Huff Gravity Model  —  The Heart of the Predictor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Uᵢⱼ  =  ( Aᵢᵅ  ×  Cⱼᵝ )  ÷  Fᵢⱼᵞ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74320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2743200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470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Aᵢ  —  Artist Power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E3C"/>
                </a:solidFill>
              </a:rPr>
              <a:t>Artist Power Index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E3C"/>
                </a:solidFill>
              </a:rPr>
              <a:t>(from PCA, Step 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24688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How large and engaged the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artist's fanbase is in this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specific city. Regional data,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not national averages.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74320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7373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470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Cⱼ  —  City Capacity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E3C"/>
                </a:solidFill>
              </a:rPr>
              <a:t>City Market Capacity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E3C"/>
                </a:solidFill>
              </a:rPr>
              <a:t>(from MOSPI census)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688336"/>
            <a:ext cx="24688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74320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Weighted combination of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per capita income and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youth demographic share.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Higher = bigger market.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74320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73736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8470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Fᵢⱼ  —  Friction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E3C"/>
                </a:solidFill>
              </a:rPr>
              <a:t>Ticket Price ÷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E3C"/>
                </a:solidFill>
              </a:rPr>
              <a:t>City Daily Income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2688336"/>
            <a:ext cx="24688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743200"/>
            <a:ext cx="2468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The penalty for pricing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too high relative to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local earnings. Scales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exponentially — key lever.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C"/>
                </a:solidFill>
              </a:rPr>
              <a:t>Used by: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World Bank (trade flow modelling)  ·  D-Mart / Walmart (store location decisions)  ·  IRDAI (insurance demand by district)  ·  Live Nation (tour routing)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 ·  TOPSIS  —  Generating the Success Probability 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Technique for Order of Preference by Similarity to Ideal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</a:rPr>
              <a:t>Define ideal &amp; worst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514600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The ideal concert: sold-out Mumbai stadium, superstar artist, December Saturday, indoor venue, perfect language match.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The worst concert: unknown artist, Tier-3 town, monsoon July, overpriced tickets, wrong language.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7432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070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1225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</a:rPr>
              <a:t>Measure distances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664208"/>
            <a:ext cx="2514600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D⁺ = Euclidean distance from your concert to the ideal.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D⁻ = Euclidean distance from your concert to the worst.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The formula calculates both simultaneously across all 8 input factors.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2070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1225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C"/>
                </a:solidFill>
              </a:rPr>
              <a:t>Compute Ri 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664208"/>
            <a:ext cx="2514600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Ri = D⁻ / (D⁺ + D⁻)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Ri = 0.78  →  78% Success Probability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Always between 0 and 1. No arbitrary scaling. Directly interpretable as a percentage.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43891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8172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Example: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Arijit Singh  ·  Guwahati  ·  ₹1,500 ticket  ·  Outdoor  ·  July  →  Ri = 0.74  →  </a:t>
            </a:r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74%  Tier B — Profitable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3C"/>
                </a:solidFill>
              </a:rPr>
              <a:t>Used by: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NITI Aayog (district ranking)  ·  Indian Defence Ministry (vendor selection)  ·  Tata Group (supplier evaluation)  ·  WHO (healthcare readiness)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&amp; 08  ·  Live Multipliers  +  Bayesian Self-Improvement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77640" cy="4041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40416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333EA"/>
                </a:solidFill>
              </a:rPr>
              <a:t>07  REAL-WORLD MULTIPLIERS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Post-TOPSIS adjustments for factors the data can't see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17904"/>
            <a:ext cx="3566160" cy="402336"/>
          </a:xfrm>
          <a:prstGeom prst="rect">
            <a:avLst/>
          </a:prstGeom>
          <a:solidFill>
            <a:srgbClr val="EDE9FE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TOPSIS × Wm × (1 − Cf) × La × 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3566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29968"/>
            <a:ext cx="64008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06654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Weather (Wm)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4944" y="22860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0.55× — outdoor July monsoon  →  1.15× — indoor Dec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24328"/>
            <a:ext cx="3566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24328"/>
            <a:ext cx="64008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6609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Cannibalization (Cf)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4944" y="28803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rival event within 14 days  →  reduces score by ~12%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18688"/>
            <a:ext cx="3566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18688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2552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Linguistic Affinity (La)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" y="34747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0.80× — language mismatch  →  1.20× — perfect language match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3566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13048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84962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C"/>
                </a:solidFill>
              </a:rPr>
              <a:t>Weekend Premium (Tp)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4944" y="40690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1.0× — weekday show  →  1.08× — Friday or Saturday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62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Used by: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Uber surge pricing  ·  IRCTC Tatkal fares  ·  IPL venue selection  ·  Insurance underwriters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822960"/>
            <a:ext cx="3977640" cy="40416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822960"/>
            <a:ext cx="91440" cy="40416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369A1"/>
                </a:solidFill>
              </a:rPr>
              <a:t>08  BAYESIAN SELF-IMPROVEMENT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model gets smarter with every concert logged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83480" y="1517904"/>
            <a:ext cx="356616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P(Success|Data) = P(Data|Success) × P(Success) / P(Data)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20482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Model evolution roadmap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2377440"/>
            <a:ext cx="3566160" cy="49377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377440"/>
            <a:ext cx="64008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4140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 – 50 concerts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2615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TOPSIS (mathematical)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250545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~70%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83480" y="2944368"/>
            <a:ext cx="356616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480" y="2944368"/>
            <a:ext cx="64008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98094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50 – 200 concerts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0" y="3182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TOPSIS + Bayesian priors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0" y="307238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~78%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83480" y="3511296"/>
            <a:ext cx="3566160" cy="493776"/>
          </a:xfrm>
          <a:prstGeom prst="rect">
            <a:avLst/>
          </a:prstGeom>
          <a:solidFill>
            <a:srgbClr val="E0F7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3511296"/>
            <a:ext cx="64008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5478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200 – 500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Bayesian Network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0" y="36393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~85%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983480" y="4078224"/>
            <a:ext cx="356616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3480" y="4078224"/>
            <a:ext cx="64008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4114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500 + concerts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20640" y="43159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XGBoost ML Classifier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46720" y="42062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~91%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83480" y="4462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Used by: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Gmail spam filter  ·  AIIMS diagnostic AI  ·  ISRO trajectory correction  ·  Zerodha risk engine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8-Step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D0"/>
                </a:solidFill>
              </a:rPr>
              <a:t>Raw data  →  8 mathematical transformations  →  one actionable success probability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932688" cy="14173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Min-Max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Norm.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52728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9596" y="1005840"/>
            <a:ext cx="93268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9596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9596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Spearman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72284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1005840"/>
            <a:ext cx="93268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59152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PCA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78708" y="1005840"/>
            <a:ext cx="93268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8708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78708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Elasticity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Ratio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1396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98264" y="1005840"/>
            <a:ext cx="93268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98264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98264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Gravity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30952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7820" y="1005840"/>
            <a:ext cx="93268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7820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7820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TOPSIS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0508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7376" y="1005840"/>
            <a:ext cx="932688" cy="14173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37376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Live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Multipliers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70064" y="1618488"/>
            <a:ext cx="868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6932" y="1005840"/>
            <a:ext cx="932688" cy="1417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6932" y="106070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D0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6932" y="1371600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Bayesian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2578608"/>
            <a:ext cx="1316736" cy="310896"/>
          </a:xfrm>
          <a:prstGeom prst="rect">
            <a:avLst/>
          </a:prstGeom>
          <a:solidFill>
            <a:srgbClr val="162847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</a:rPr>
              <a:t>Spotify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751076" y="2578608"/>
            <a:ext cx="1316736" cy="310896"/>
          </a:xfrm>
          <a:prstGeom prst="rect">
            <a:avLst/>
          </a:prstGeom>
          <a:solidFill>
            <a:srgbClr val="162847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51076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</a:rPr>
              <a:t>YouTube API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82112" y="2578608"/>
            <a:ext cx="1316736" cy="310896"/>
          </a:xfrm>
          <a:prstGeom prst="rect">
            <a:avLst/>
          </a:prstGeom>
          <a:solidFill>
            <a:srgbClr val="162847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82112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</a:rPr>
              <a:t>Google Trends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3148" y="2578608"/>
            <a:ext cx="1316736" cy="310896"/>
          </a:xfrm>
          <a:prstGeom prst="rect">
            <a:avLst/>
          </a:prstGeom>
          <a:solidFill>
            <a:srgbClr val="162847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3148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</a:rPr>
              <a:t>MOSPI Census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44184" y="2578608"/>
            <a:ext cx="1316736" cy="310896"/>
          </a:xfrm>
          <a:prstGeom prst="rect">
            <a:avLst/>
          </a:prstGeom>
          <a:solidFill>
            <a:srgbClr val="162847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44184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</a:rPr>
              <a:t>OpenWeatherMap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75220" y="2578608"/>
            <a:ext cx="1316736" cy="310896"/>
          </a:xfrm>
          <a:prstGeom prst="rect">
            <a:avLst/>
          </a:prstGeom>
          <a:solidFill>
            <a:srgbClr val="162847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5220" y="25786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B3E8"/>
                </a:solidFill>
              </a:rPr>
              <a:t>PredictHQ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" y="2432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DATA INPUTS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2960" y="3035808"/>
            <a:ext cx="74980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" y="3035808"/>
            <a:ext cx="7498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31455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OUTPUT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" y="33649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 ·  Tier B — Profitable  ·  Recommended venue: 6,000–8,000 seats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1005840" y="3785616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D0"/>
                </a:solidFill>
              </a:rPr>
              <a:t>Artist Power: Strong ✓   |   City Capacity: Medium ⚡   |   Ticket Friction: Low ✓   |   Weather: High ✗   |   Language: Perfect 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Models.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6217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✦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CF5"/>
                </a:solidFill>
              </a:rPr>
              <a:t>Every model here is peer-reviewed and battle-tested — used by governments, banks and global tech firms.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217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✦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CF5"/>
                </a:solidFill>
              </a:rPr>
              <a:t>None require ticket sales data. They work on proxy signals proven to predict demand.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3108960"/>
            <a:ext cx="6217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✦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CF5"/>
                </a:solidFill>
              </a:rPr>
              <a:t>The stack is modular — each model can be improved or replaced independently.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611880"/>
            <a:ext cx="6217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✦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CF5"/>
                </a:solidFill>
              </a:rPr>
              <a:t>The system gets smarter with every concert logged — the value compounds over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114800"/>
            <a:ext cx="6217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✦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DCF5"/>
                </a:solidFill>
              </a:rPr>
              <a:t>No competitor in the Indian market has built this combination. This is first-mover territory.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822960"/>
            <a:ext cx="214884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05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EB3E8"/>
                </a:solidFill>
              </a:rPr>
              <a:t>Day 1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EB3E8"/>
                </a:solidFill>
              </a:rPr>
              <a:t>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600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949440" y="2212848"/>
            <a:ext cx="1783080" cy="9144"/>
          </a:xfrm>
          <a:prstGeom prst="rect">
            <a:avLst/>
          </a:prstGeom>
          <a:solidFill>
            <a:srgbClr val="334E7A"/>
          </a:solidFill>
          <a:ln w="12700">
            <a:solidFill>
              <a:srgbClr val="334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331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EB3E8"/>
                </a:solidFill>
              </a:rPr>
              <a:t>500 concerts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EB3E8"/>
                </a:solidFill>
              </a:rPr>
              <a:t>logged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834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340156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XGBoost ML model replaces formula entirely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·  NOT FOR EXTERNAL DISTRIBUTION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Models — Concert Success Predictor</dc:title>
  <dc:subject>PptxGenJS Presentation</dc:subject>
  <dc:creator>PptxGenJS</dc:creator>
  <cp:lastModifiedBy>PptxGenJS</cp:lastModifiedBy>
  <cp:revision>1</cp:revision>
  <dcterms:created xsi:type="dcterms:W3CDTF">2026-05-23T07:19:10Z</dcterms:created>
  <dcterms:modified xsi:type="dcterms:W3CDTF">2026-05-23T07:19:10Z</dcterms:modified>
</cp:coreProperties>
</file>